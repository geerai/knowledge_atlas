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160  ·  KNOWLEDGE ATLAS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System Architecture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A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for Typed, Layered Assessment of Science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25400">
            <a:solidFill>
              <a:srgbClr val="E88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federated multi-repo system for structured credibility reasoning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David Kirsh  ·  Cognitive Science, UCSD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ATLAS?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7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for Typed, Layered Assessment of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credibility reasoning system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stores scientific knowledge not as simple facts, but as structured credences — beliefs tagged with how well-supported they are, where the support comes from, and why.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models knowledge as an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Network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(Web of Belief): a directed graph where each node is a claim and each edge is a typed, weighted warrant.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new evidence is added, credences propagate through the network and the system re-equilibrates. The network is </a:t>
            </a:r>
            <a:pPr indent="0" marL="0">
              <a:lnSpc>
                <a:spcPct val="135000"/>
              </a:lnSpc>
              <a:buNone/>
            </a:pPr>
            <a:r>
              <a:rPr lang="en-US" sz="1200" b="1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foundherentist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(Haack): both empirical directness and coherence with theoretical frameworks matter equally.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92024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92024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 across 34 topics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65176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65176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items (claims)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38328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338328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 types (d = 0.25 to 1.0)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114800"/>
            <a:ext cx="3108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4114800"/>
            <a:ext cx="54864" cy="594360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neuroscience frameworks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Layers: EN → π → BN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solidFill>
            <a:srgbClr val="1A2E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Epistemic Network (EN)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+ warrant edges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Credence propagation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warrant types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Foundherentist web of belief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560320" cy="2560320"/>
          </a:xfrm>
          <a:prstGeom prst="rect">
            <a:avLst/>
          </a:prstGeom>
          <a:solidFill>
            <a:srgbClr val="1A2E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63040"/>
            <a:ext cx="2560320" cy="54864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 Function (π)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transfer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logit(p_target) = d·ω·δ·logit(p_lab)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Log-odds space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Serial/parallel combination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Dual-BN diagnostic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560320" cy="2560320"/>
          </a:xfrm>
          <a:prstGeom prst="rect">
            <a:avLst/>
          </a:prstGeom>
          <a:solidFill>
            <a:srgbClr val="1A2E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463040"/>
            <a:ext cx="2560320" cy="54864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Network (BN)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predict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DAG + CPTs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Pearl-compliant inference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Interventional queries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recommendations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52E2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2A"/>
                </a:solidFill>
              </a:rPr>
              <a:t>Projection formula: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logit(p_target) = d(τ,CCI) · δ_ecology · ω · δ_pop · T(t) · ∏F_dose · Ψ_interact · logit(p_lab)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Multi-Repo System</a:t>
            </a:r>
            <a:endParaRPr lang="en-US" sz="2600" dirty="0"/>
          </a:p>
        </p:txBody>
      </p:sp>
      <p:pic>
        <p:nvPicPr>
          <p:cNvPr id="4" name="Image 0" descr="/sessions/dreamy-intelligent-knuth/mnt/160sp/atlas_box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Repos Talk to Each Other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 boundary is governed by a formal contract: a spec that defines exactly what data crosses the boundary, in what format, and what validation must pass.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→ 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Specifies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3A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af.job_bundle.v1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Article_Finder → Article_Eater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+ metadata manifest + extraction directives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ae.claim.v2 (ClaimV2)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internal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claim schema: provenance tier, causal level, evidence basis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ae_bn_bridge.v1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↔ BN_graphical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Bidirectional: causal edges + node definitions for BN construction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oc.export.v1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Outcome_Contractor → AF, AE, BN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taxonomy, term mappings, measurement instruments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EN→BN boundary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Epistemic Network → Bayesian Net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invariants: determinism, traceability, bounds, monotonicity...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V7 Rebuild Export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→ Knowledge_Atlas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gold_claims_v7.jsonl + web_persistence_v5.db + research_fronts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Codex Local Gold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→ KA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Science-writer summaries: 10 sections, 15 success conditions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3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PNU Generation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Article_Eater → KA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Plausible neuroscience underpinning HTML pages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Eater: PDF → Claims → Web → BN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Intake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028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Mathpix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397764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 Assignment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0" y="146304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46304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0920" y="157276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1572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Credence Propagation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574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24028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4028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Matching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4904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3192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93192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48" name="Shape 46"/>
          <p:cNvSpPr/>
          <p:nvPr/>
        </p:nvSpPr>
        <p:spPr>
          <a:xfrm>
            <a:off x="397764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49" name="Text 47"/>
          <p:cNvSpPr/>
          <p:nvPr/>
        </p:nvSpPr>
        <p:spPr>
          <a:xfrm>
            <a:off x="397764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9768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Projection (π)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4068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72A"/>
                </a:solidFill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623560" y="2423160"/>
            <a:ext cx="1508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623560" y="2423160"/>
            <a:ext cx="1508760" cy="36576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54" name="Shape 52"/>
          <p:cNvSpPr/>
          <p:nvPr/>
        </p:nvSpPr>
        <p:spPr>
          <a:xfrm>
            <a:off x="5669280" y="2532888"/>
            <a:ext cx="274320" cy="274320"/>
          </a:xfrm>
          <a:prstGeom prst="ellipse">
            <a:avLst/>
          </a:prstGeom>
          <a:solidFill>
            <a:srgbClr val="1C3D3A"/>
          </a:solidFill>
          <a:ln/>
        </p:spPr>
      </p:sp>
      <p:sp>
        <p:nvSpPr>
          <p:cNvPr id="55" name="Text 53"/>
          <p:cNvSpPr/>
          <p:nvPr/>
        </p:nvSpPr>
        <p:spPr>
          <a:xfrm>
            <a:off x="5669280" y="2532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8932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Summaries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3200400"/>
            <a:ext cx="8046720" cy="54864"/>
          </a:xfrm>
          <a:prstGeom prst="rect">
            <a:avLst/>
          </a:prstGeom>
          <a:solidFill>
            <a:srgbClr val="2A7868"/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OUTPUTS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gold_claims_v7.jsonl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603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claim records with provenance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634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web_persistence_v5.db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6751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epistemic web (claims + edges)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research_fronts_v7.json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56032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frontier analysis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6634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PNU HTML pages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67512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neuroscience underpinnings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152E2B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20" y="45537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2A"/>
                </a:solidFill>
              </a:rPr>
              <a:t>Theory Tiers:  </a:t>
            </a:r>
            <a:pPr indent="0" marL="0">
              <a:buNone/>
            </a:pPr>
            <a:r>
              <a:rPr lang="en-US" sz="1000" dirty="0">
                <a:solidFill>
                  <a:srgbClr val="D0ECE8"/>
                </a:solidFill>
              </a:rPr>
              <a:t>T1 (10 neuroscience frameworks)  →  T1.5 (domain theories reduced to T1)  →  T2 (empirical claims, bridge warrants)  →  T3 (BN nodes, CPTs)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Repos and Their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0"/>
          </a:xfrm>
          <a:prstGeom prst="line">
            <a:avLst/>
          </a:prstGeom>
          <a:noFill/>
          <a:ln w="254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051560"/>
          </a:xfrm>
          <a:prstGeom prst="rect">
            <a:avLst/>
          </a:prstGeom>
          <a:solidFill>
            <a:srgbClr val="1A7A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Article_Finder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490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af.job_bundle.v1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discovery and intake. Imports from spreadsheets, Zotero, DOI searches. Deduplicates, enriches metadata, produces job bundles (PDFs + directives) for Article Eater.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54864" cy="1051560"/>
          </a:xfrm>
          <a:prstGeom prst="rect">
            <a:avLst/>
          </a:prstGeom>
          <a:solidFill>
            <a:srgbClr val="6B4F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Tagging_Contractor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1490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registry_v0.2.8.json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authority for IV (environment-side) vocabulary. Defines 424 CNFA tags — measurable environmental features like luminance, ceiling height, green fraction.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06040"/>
            <a:ext cx="54864" cy="1051560"/>
          </a:xfrm>
          <a:prstGeom prst="rect">
            <a:avLst/>
          </a:prstGeom>
          <a:solidFill>
            <a:srgbClr val="6B4FA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Outcome_Contractor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oc.export.v1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authority for DV (outcome-side) vocabulary. Defines cognitive, affective, behavioral, physiological, and health outcomes with measurement instruments.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06040"/>
            <a:ext cx="54864" cy="1051560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BN_graphical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ae_bn_bridge.v1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causal inference engine. Takes bridge data from Article Eater, constructs Pearl-compliant DAGs, runs interventional and counterfactual queries. 45% complete.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794760"/>
            <a:ext cx="54864" cy="1051560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Knowledge_Atlas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867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V7 Rebuild Export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website. Payload adapter transforms Article Eater outputs into JSON for the frontend. Evidence browser, topic explorer, contributor flows, student assignments.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7947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94760"/>
            <a:ext cx="54864" cy="1051560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Designing_Experiments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3867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A7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Course/experiment specs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 (COGS 160), experiment protocols, 4-track student structure. Links to emotibit for physiological data collection and BN for validation.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Cross-Repo Pipelines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solidFill>
            <a:srgbClr val="1A2E2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1A7A5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1A7A5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Intake → 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Article_Finder discovers and packages papers; Article_Eater extracts claims, summaries, and research fronts.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8046720" cy="640080"/>
          </a:xfrm>
          <a:prstGeom prst="rect">
            <a:avLst/>
          </a:prstGeom>
          <a:solidFill>
            <a:srgbClr val="1A2E2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67128"/>
            <a:ext cx="54864" cy="640080"/>
          </a:xfrm>
          <a:prstGeom prst="rect">
            <a:avLst/>
          </a:prstGeom>
          <a:solidFill>
            <a:srgbClr val="6B4FA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304288"/>
            <a:ext cx="365760" cy="365760"/>
          </a:xfrm>
          <a:prstGeom prst="ellipse">
            <a:avLst/>
          </a:prstGeom>
          <a:solidFill>
            <a:srgbClr val="6B4FA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Authority Injection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487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Tagging_Contractor (IVs) and Outcome_Contractor (DVs) supply controlled vocabularies to both Finder and Eater.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8046720" cy="640080"/>
          </a:xfrm>
          <a:prstGeom prst="rect">
            <a:avLst/>
          </a:prstGeom>
          <a:solidFill>
            <a:srgbClr val="1A2E2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16936"/>
            <a:ext cx="54864" cy="640080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054096"/>
            <a:ext cx="365760" cy="365760"/>
          </a:xfrm>
          <a:prstGeom prst="ellipse">
            <a:avLst/>
          </a:prstGeom>
          <a:solidFill>
            <a:srgbClr val="3A6EA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Rebuild → Site Payloads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2369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Article_Eater rebuilds the database; Knowledge_Atlas adapts it into JSON payloads for the live website.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66744"/>
            <a:ext cx="8046720" cy="640080"/>
          </a:xfrm>
          <a:prstGeom prst="rect">
            <a:avLst/>
          </a:prstGeom>
          <a:solidFill>
            <a:srgbClr val="1A2E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666744"/>
            <a:ext cx="54864" cy="640080"/>
          </a:xfrm>
          <a:prstGeom prst="rect">
            <a:avLst/>
          </a:prstGeom>
          <a:solidFill>
            <a:srgbClr val="E88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03904"/>
            <a:ext cx="365760" cy="365760"/>
          </a:xfrm>
          <a:prstGeom prst="ellipse">
            <a:avLst/>
          </a:prstGeom>
          <a:solidFill>
            <a:srgbClr val="E8872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3712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 → Course Content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9867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Designing_Experiments reads rebuild artifacts to generate precomputed teaching content and experiment tools.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16552"/>
            <a:ext cx="8046720" cy="640080"/>
          </a:xfrm>
          <a:prstGeom prst="rect">
            <a:avLst/>
          </a:prstGeom>
          <a:solidFill>
            <a:srgbClr val="1A2E2B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416552"/>
            <a:ext cx="54864" cy="640080"/>
          </a:xfrm>
          <a:prstGeom prst="rect">
            <a:avLst/>
          </a:prstGeom>
          <a:solidFill>
            <a:srgbClr val="A84F6B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4553712"/>
            <a:ext cx="365760" cy="365760"/>
          </a:xfrm>
          <a:prstGeom prst="ellipse">
            <a:avLst/>
          </a:prstGeom>
          <a:solidFill>
            <a:srgbClr val="A84F6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→ Causal Modelling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47365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Article_Eater claims and Outcome_Contractor nodes feed into BN_graphical for Bayesian causal inference.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System Architecture</dc:title>
  <dc:subject>PptxGenJS Presentation</dc:subject>
  <dc:creator>Prof. David Kirsh</dc:creator>
  <cp:lastModifiedBy>Prof. David Kirsh</cp:lastModifiedBy>
  <cp:revision>1</cp:revision>
  <dcterms:created xsi:type="dcterms:W3CDTF">2026-04-07T07:22:33Z</dcterms:created>
  <dcterms:modified xsi:type="dcterms:W3CDTF">2026-04-07T07:22:33Z</dcterms:modified>
</cp:coreProperties>
</file>