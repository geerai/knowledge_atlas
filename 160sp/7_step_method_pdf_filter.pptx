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COGS 160  ·  KNOWLEDGE ATLAS  ·  SPRING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7-Step Method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A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PDF Relevance Filter with AI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743200" cy="0"/>
          </a:xfrm>
          <a:prstGeom prst="line">
            <a:avLst/>
          </a:prstGeom>
          <a:noFill/>
          <a:ln w="25400">
            <a:solidFill>
              <a:srgbClr val="E88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AI as a design partner — not a code monkey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8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David Kirsh  ·  Cognitive Science, UCSD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ATLAS?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7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for Typed, Layered Assessment of Science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credibility reasoning system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stores scientific knowledge not as simple facts, but as structured credences — beliefs tagged with how well-supported they are, where the support comes from, and why.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models knowledge as an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Network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(Web of Belief): a directed graph where each node is a claim and each edge is a typed, weighted warrant.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new evidence is added, credences propagate through the network and the system re-equilibrates. The network is </a:t>
            </a:r>
            <a:pPr indent="0" marL="0">
              <a:lnSpc>
                <a:spcPct val="135000"/>
              </a:lnSpc>
              <a:buNone/>
            </a:pPr>
            <a:r>
              <a:rPr lang="en-US" sz="1200" b="1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foundherentist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(Haack): both empirical directness and coherence with theoretical frameworks matter equally.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920240"/>
            <a:ext cx="3108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1920240"/>
            <a:ext cx="54864" cy="594360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papers across 34 topics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2651760"/>
            <a:ext cx="3108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2651760"/>
            <a:ext cx="54864" cy="594360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697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items (claims)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3383280"/>
            <a:ext cx="3108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3383280"/>
            <a:ext cx="54864" cy="594360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3429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 types (d = 0.25 to 1.0)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4114800"/>
            <a:ext cx="3108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4114800"/>
            <a:ext cx="54864" cy="594360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4160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8368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neuroscience frameworks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Layers: EN → π → BN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2560320"/>
          </a:xfrm>
          <a:prstGeom prst="rect">
            <a:avLst/>
          </a:prstGeom>
          <a:solidFill>
            <a:srgbClr val="1A2E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560320" cy="54864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Epistemic Network (EN)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 + warrant edges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Credence propagation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warrant types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Foundherentist web of belief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560320" cy="2560320"/>
          </a:xfrm>
          <a:prstGeom prst="rect">
            <a:avLst/>
          </a:prstGeom>
          <a:solidFill>
            <a:srgbClr val="1A2E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63040"/>
            <a:ext cx="2560320" cy="54864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 Function (π)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transfer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logit(p_target) = d·ω·δ·logit(p_lab)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Log-odds space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Serial/parallel combination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Dual-BN diagnostic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943600" y="1463040"/>
            <a:ext cx="2560320" cy="2560320"/>
          </a:xfrm>
          <a:prstGeom prst="rect">
            <a:avLst/>
          </a:prstGeom>
          <a:solidFill>
            <a:srgbClr val="1A2E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463040"/>
            <a:ext cx="2560320" cy="54864"/>
          </a:xfrm>
          <a:prstGeom prst="rect">
            <a:avLst/>
          </a:prstGeom>
          <a:solidFill>
            <a:srgbClr val="3A6EA8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Network (BN)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predict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22860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 DAG + CPTs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Pearl-compliant inference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Interventional queries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recommendations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152E2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251960"/>
            <a:ext cx="54864" cy="640080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97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2A"/>
                </a:solidFill>
              </a:rPr>
              <a:t>Projection formula: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logit(p_target) = d(τ,CCI) · δ_ecology · ω · δ_pop · T(t) · ∏F_dose · Ψ_interact · logit(p_lab)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Multi-Repo System</a:t>
            </a:r>
            <a:endParaRPr lang="en-US" sz="2600" dirty="0"/>
          </a:p>
        </p:txBody>
      </p:sp>
      <p:pic>
        <p:nvPicPr>
          <p:cNvPr id="4" name="Image 0" descr="/sessions/dreamy-intelligent-knuth/mnt/160sp/atlas_box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Repos Talk to Each Other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 boundary is governed by a formal contract: a spec that defines exactly what data crosses the boundary, in what format, and what validation must pass.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</a:tblGrid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→ 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Specifies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3A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af.job_bundle.v1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Article_Finder → Article_Eater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 + metadata manifest + extraction directives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ae.claim.v2 (ClaimV2)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Article_Eater internal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Canonical claim schema: provenance tier, causal level, evidence basis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ae_bn_bridge.v1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Article_Eater ↔ BN_graphical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Bidirectional: causal edges + node definitions for BN construction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oc.export.v1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Outcome_Contractor → AF, AE, BN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 taxonomy, term mappings, measurement instruments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EN→BN boundary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Epistemic Network → Bayesian Net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invariants: determinism, traceability, bounds, monotonicity...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V7 Rebuild Export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Article_Eater → Knowledge_Atlas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gold_claims_v7.jsonl + web_persistence_v5.db + research_fronts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Codex Local Gold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Article_Eater → KA site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Science-writer summaries: 10 sections, 15 success conditions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PNU Generation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Article_Eater → KA site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Plausible neuroscience underpinning HTML pages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Article Eater: PDF → Claims → Web → BN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7276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72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Intake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16002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40280" y="146304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0280" y="146304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157276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1572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554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Mathpix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16002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31920" y="146304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146304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19" name="Shape 17"/>
          <p:cNvSpPr/>
          <p:nvPr/>
        </p:nvSpPr>
        <p:spPr>
          <a:xfrm>
            <a:off x="3977640" y="157276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20" name="Text 18"/>
          <p:cNvSpPr/>
          <p:nvPr/>
        </p:nvSpPr>
        <p:spPr>
          <a:xfrm>
            <a:off x="3977640" y="1572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1554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Extraction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40680" y="16002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23560" y="146304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146304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0" y="157276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1572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554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 Assignment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16002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0" y="146304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0" y="146304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31" name="Shape 29"/>
          <p:cNvSpPr/>
          <p:nvPr/>
        </p:nvSpPr>
        <p:spPr>
          <a:xfrm>
            <a:off x="7360920" y="157276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32" name="Text 30"/>
          <p:cNvSpPr/>
          <p:nvPr/>
        </p:nvSpPr>
        <p:spPr>
          <a:xfrm>
            <a:off x="7360920" y="1572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1554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Integration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242316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242316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2532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2514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Credence Propagation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05740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240280" y="242316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40280" y="242316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42" name="Shape 40"/>
          <p:cNvSpPr/>
          <p:nvPr/>
        </p:nvSpPr>
        <p:spPr>
          <a:xfrm>
            <a:off x="2286000" y="253288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43" name="Text 41"/>
          <p:cNvSpPr/>
          <p:nvPr/>
        </p:nvSpPr>
        <p:spPr>
          <a:xfrm>
            <a:off x="2286000" y="2532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06040" y="2514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Matching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4904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931920" y="242316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931920" y="242316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48" name="Shape 46"/>
          <p:cNvSpPr/>
          <p:nvPr/>
        </p:nvSpPr>
        <p:spPr>
          <a:xfrm>
            <a:off x="3977640" y="253288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49" name="Text 47"/>
          <p:cNvSpPr/>
          <p:nvPr/>
        </p:nvSpPr>
        <p:spPr>
          <a:xfrm>
            <a:off x="3977640" y="2532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97680" y="2514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Projection (π)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4068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623560" y="242316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623560" y="242316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54" name="Shape 52"/>
          <p:cNvSpPr/>
          <p:nvPr/>
        </p:nvSpPr>
        <p:spPr>
          <a:xfrm>
            <a:off x="5669280" y="253288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55" name="Text 53"/>
          <p:cNvSpPr/>
          <p:nvPr/>
        </p:nvSpPr>
        <p:spPr>
          <a:xfrm>
            <a:off x="5669280" y="2532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989320" y="2514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Summaries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48640" y="3200400"/>
            <a:ext cx="8046720" cy="54864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58" name="Text 56"/>
          <p:cNvSpPr/>
          <p:nvPr/>
        </p:nvSpPr>
        <p:spPr>
          <a:xfrm>
            <a:off x="5486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OUTPUTS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864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gold_claims_v7.jsonl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56032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claim records with provenance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66344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web_persistence_v5.db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67512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epistemic web (claims + edges)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4864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research_fronts_v7.json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560320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frontier analysis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66344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PNU HTML pages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675120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 neuroscience underpinnings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solidFill>
            <a:srgbClr val="152E2B"/>
          </a:solidFill>
          <a:ln/>
        </p:spPr>
      </p:sp>
      <p:sp>
        <p:nvSpPr>
          <p:cNvPr id="68" name="Text 66"/>
          <p:cNvSpPr/>
          <p:nvPr/>
        </p:nvSpPr>
        <p:spPr>
          <a:xfrm>
            <a:off x="731520" y="45537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2A"/>
                </a:solidFill>
              </a:rPr>
              <a:t>Theory Tiers:  </a:t>
            </a:r>
            <a:pPr indent="0" marL="0">
              <a:buNone/>
            </a:pPr>
            <a:r>
              <a:rPr lang="en-US" sz="1000" dirty="0">
                <a:solidFill>
                  <a:srgbClr val="D0ECE8"/>
                </a:solidFill>
              </a:rPr>
              <a:t>T1 (10 neuroscience frameworks)  →  T1.5 (domain theories reduced to T1)  →  T2 (empirical claims, bridge warrants)  →  T3 (BN nodes, CPTs)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Supporting Repos and Their Roles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051560"/>
          </a:xfrm>
          <a:prstGeom prst="rect">
            <a:avLst/>
          </a:prstGeom>
          <a:solidFill>
            <a:srgbClr val="1A7A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Article_Finder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490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7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af.job_bundle.v1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discovery and intake. Imports from spreadsheets, Zotero, DOI searches. Deduplicates, enriches metadata, produces job bundles (PDFs + directives) for Article Eater.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17320"/>
            <a:ext cx="54864" cy="1051560"/>
          </a:xfrm>
          <a:prstGeom prst="rect">
            <a:avLst/>
          </a:prstGeom>
          <a:solidFill>
            <a:srgbClr val="6B4FA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Tagging_Contractor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1490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7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registry_v0.2.8.json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authority for IV (environment-side) vocabulary. Defines 424 CNFA tags — measurable environmental features like luminance, ceiling height, green fraction.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606040"/>
            <a:ext cx="54864" cy="1051560"/>
          </a:xfrm>
          <a:prstGeom prst="rect">
            <a:avLst/>
          </a:prstGeom>
          <a:solidFill>
            <a:srgbClr val="6B4FA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Outcome_Contractor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679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7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oc.export.v1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31520" y="2926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authority for DV (outcome-side) vocabulary. Defines cognitive, affective, behavioral, physiological, and health outcomes with measurement instruments.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6060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06040"/>
            <a:ext cx="54864" cy="1051560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BN_graphical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2679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7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ae_bn_bridge.v1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2926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causal inference engine. Takes bridge data from Article Eater, constructs Pearl-compliant DAGs, runs interventional and counterfactual queries. 45% complete.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794760"/>
            <a:ext cx="54864" cy="1051560"/>
          </a:xfrm>
          <a:prstGeom prst="rect">
            <a:avLst/>
          </a:prstGeom>
          <a:solidFill>
            <a:srgbClr val="3A6EA8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Knowledge_Atlas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3867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7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V7 Rebuild Export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3152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website. Payload adapter transforms Article Eater outputs into JSON for the frontend. Evidence browser, topic explorer, contributor flows, student assignments.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7947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794760"/>
            <a:ext cx="54864" cy="1051560"/>
          </a:xfrm>
          <a:prstGeom prst="rect">
            <a:avLst/>
          </a:prstGeom>
          <a:solidFill>
            <a:srgbClr val="3A6EA8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Designing_Experiments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3867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7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Course/experiment specs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materials (COGS 160), experiment protocols, 4-track student structure. Links to emotibit for physiological data collection and BN for validation.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FILTER 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System Architecture to Today's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1463040"/>
          </a:xfrm>
          <a:prstGeom prst="rect">
            <a:avLst/>
          </a:prstGeom>
          <a:solidFill>
            <a:srgbClr val="1A2E2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8046720" cy="45720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91640"/>
            <a:ext cx="1280160" cy="822960"/>
          </a:xfrm>
          <a:prstGeom prst="rect">
            <a:avLst/>
          </a:prstGeom>
          <a:solidFill>
            <a:srgbClr val="2A4A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finds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paper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72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377440" y="1691640"/>
            <a:ext cx="1463040" cy="822960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6916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Relevance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72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14800" y="1691640"/>
            <a:ext cx="1371600" cy="822960"/>
          </a:xfrm>
          <a:prstGeom prst="rect">
            <a:avLst/>
          </a:prstGeom>
          <a:solidFill>
            <a:srgbClr val="2A4A4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Eater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claims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72A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60720" y="1691640"/>
            <a:ext cx="1188720" cy="822960"/>
          </a:xfrm>
          <a:prstGeom prst="rect">
            <a:avLst/>
          </a:prstGeom>
          <a:solidFill>
            <a:srgbClr val="2A4A44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16916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of Belief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72A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223760" y="1691640"/>
            <a:ext cx="1280160" cy="822960"/>
          </a:xfrm>
          <a:prstGeom prst="rect">
            <a:avLst/>
          </a:prstGeom>
          <a:solidFill>
            <a:srgbClr val="2A4A44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6916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K-ATLAS site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results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2004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PDF Relevance Filter is the quality gate between intake and extraction.
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8D4CE"/>
                </a:solidFill>
              </a:rPr>
              <a:t>If irrelevant papers enter the corpus, every downstream analysis is contaminated — credences propagate through the Evidence Network, so one bad paper can shift confidence scores across dozens of claims.
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5AC8AA"/>
                </a:solidFill>
              </a:rPr>
              <a:t>Today's demo: we use the 7-Step Method to build this filter with AI.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We Need a Filter?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840480" cy="54864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Contamination Risk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questions across 34 topics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760+ papers in the corpus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pipelines submit PDFs as evidence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paper about "ADHD in natural classrooms" mentions both "attention" and "natural" — but it's about clinical ADHD, not attention restoration from nature.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A8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irrelevant papers enter the corpus, every downstream analysis is contaminated.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54480"/>
            <a:ext cx="3840480" cy="54864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Filter Must 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1488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K-ATLAS question + a submitted PDF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Does this paper provide evidence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relevant to this specific question?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ACCEPT / REJECT / MANUAL REVIEW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with per-check reasoning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Steps from Problem to Working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4108" y="1554480"/>
            <a:ext cx="502920" cy="502920"/>
          </a:xfrm>
          <a:prstGeom prst="ellipse">
            <a:avLst/>
          </a:prstGeom>
          <a:solidFill>
            <a:srgbClr val="2A7868"/>
          </a:solidFill>
          <a:ln/>
        </p:spPr>
      </p:sp>
      <p:sp>
        <p:nvSpPr>
          <p:cNvPr id="5" name="Text 3"/>
          <p:cNvSpPr/>
          <p:nvPr/>
        </p:nvSpPr>
        <p:spPr>
          <a:xfrm>
            <a:off x="864108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" y="219456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Convene Panel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251460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virtual experts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55064" y="1554480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872A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6252" y="1554480"/>
            <a:ext cx="502920" cy="502920"/>
          </a:xfrm>
          <a:prstGeom prst="ellipse">
            <a:avLst/>
          </a:prstGeom>
          <a:solidFill>
            <a:srgbClr val="2A7868"/>
          </a:solidFill>
          <a:ln/>
        </p:spPr>
      </p:sp>
      <p:sp>
        <p:nvSpPr>
          <p:cNvPr id="10" name="Text 8"/>
          <p:cNvSpPr/>
          <p:nvPr/>
        </p:nvSpPr>
        <p:spPr>
          <a:xfrm>
            <a:off x="2016252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36776" y="219456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Spec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36776" y="251460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component spec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07208" y="1554480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872A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68396" y="1554480"/>
            <a:ext cx="502920" cy="502920"/>
          </a:xfrm>
          <a:prstGeom prst="ellipse">
            <a:avLst/>
          </a:prstGeom>
          <a:solidFill>
            <a:srgbClr val="2A7868"/>
          </a:solidFill>
          <a:ln/>
        </p:spPr>
      </p:sp>
      <p:sp>
        <p:nvSpPr>
          <p:cNvPr id="15" name="Text 13"/>
          <p:cNvSpPr/>
          <p:nvPr/>
        </p:nvSpPr>
        <p:spPr>
          <a:xfrm>
            <a:off x="3168396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88920" y="219456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Acceptance Tests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251460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pass/fail before code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59352" y="1554480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872A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20540" y="1554480"/>
            <a:ext cx="502920" cy="502920"/>
          </a:xfrm>
          <a:prstGeom prst="ellipse">
            <a:avLst/>
          </a:prstGeom>
          <a:solidFill>
            <a:srgbClr val="2A7868"/>
          </a:solidFill>
          <a:ln/>
        </p:spPr>
      </p:sp>
      <p:sp>
        <p:nvSpPr>
          <p:cNvPr id="20" name="Text 18"/>
          <p:cNvSpPr/>
          <p:nvPr/>
        </p:nvSpPr>
        <p:spPr>
          <a:xfrm>
            <a:off x="43205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41064" y="219456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41064" y="251460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the implementation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11496" y="1554480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872A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72684" y="1554480"/>
            <a:ext cx="502920" cy="502920"/>
          </a:xfrm>
          <a:prstGeom prst="ellipse">
            <a:avLst/>
          </a:prstGeom>
          <a:solidFill>
            <a:srgbClr val="2A7868"/>
          </a:solidFill>
          <a:ln/>
        </p:spPr>
      </p:sp>
      <p:sp>
        <p:nvSpPr>
          <p:cNvPr id="25" name="Text 23"/>
          <p:cNvSpPr/>
          <p:nvPr/>
        </p:nvSpPr>
        <p:spPr>
          <a:xfrm>
            <a:off x="5472684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93208" y="219456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93208" y="251460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 against spec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1554480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872A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24828" y="1554480"/>
            <a:ext cx="502920" cy="502920"/>
          </a:xfrm>
          <a:prstGeom prst="ellipse">
            <a:avLst/>
          </a:prstGeom>
          <a:solidFill>
            <a:srgbClr val="2A7868"/>
          </a:solidFill>
          <a:ln/>
        </p:spPr>
      </p:sp>
      <p:sp>
        <p:nvSpPr>
          <p:cNvPr id="30" name="Text 28"/>
          <p:cNvSpPr/>
          <p:nvPr/>
        </p:nvSpPr>
        <p:spPr>
          <a:xfrm>
            <a:off x="6624828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45352" y="219456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45352" y="251460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failures to spec, not code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15784" y="1554480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872A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76972" y="1554480"/>
            <a:ext cx="502920" cy="502920"/>
          </a:xfrm>
          <a:prstGeom prst="ellipse">
            <a:avLst/>
          </a:prstGeom>
          <a:solidFill>
            <a:srgbClr val="2A7868"/>
          </a:solidFill>
          <a:ln/>
        </p:spPr>
      </p:sp>
      <p:sp>
        <p:nvSpPr>
          <p:cNvPr id="35" name="Text 33"/>
          <p:cNvSpPr/>
          <p:nvPr/>
        </p:nvSpPr>
        <p:spPr>
          <a:xfrm>
            <a:off x="7776972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97496" y="219456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97496" y="251460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spec, re-run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14400" y="3291840"/>
            <a:ext cx="7315200" cy="1280160"/>
          </a:xfrm>
          <a:prstGeom prst="rect">
            <a:avLst/>
          </a:prstGeom>
          <a:solidFill>
            <a:srgbClr val="152E2B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400" y="3291840"/>
            <a:ext cx="54864" cy="1280160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40" name="Text 38"/>
          <p:cNvSpPr/>
          <p:nvPr/>
        </p:nvSpPr>
        <p:spPr>
          <a:xfrm>
            <a:off x="118872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8872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0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1–3 are where the intellectual work happens. You are the designer; the AI is your builder. The spec is where the epistemology lives — not in the code.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Convene Panel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2651760" cy="54864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91640"/>
            <a:ext cx="1828800" cy="274320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EPISTEMOLOGIST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Susan Haack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(foundherentism)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makes evidence "relevant" vs. merely topically adjacent? When does keyword match fail?"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508760"/>
            <a:ext cx="2651760" cy="54864"/>
          </a:xfrm>
          <a:prstGeom prst="rect">
            <a:avLst/>
          </a:prstGeom>
          <a:solidFill>
            <a:srgbClr val="3A6EA8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691640"/>
            <a:ext cx="1828800" cy="274320"/>
          </a:xfrm>
          <a:prstGeom prst="rect">
            <a:avLst/>
          </a:prstGeom>
          <a:solidFill>
            <a:srgbClr val="3A6EA8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LIBRARIAN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Science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6974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metadata reliably distinguishes on-topic from off-topic? What are failure modes of keyword filtering?"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5087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508760"/>
            <a:ext cx="2651760" cy="54864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691640"/>
            <a:ext cx="1828800" cy="274320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COGS 160 Student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Submitting Articles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6974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feedback helps me understand WHY a paper was rejected, not just THAT it was?"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THE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Actually Typed Into the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running a design panel for a PDF relevance filter.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panelists are: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88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Susan Haack (epistemology, foundherentism):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makes evidence "relevant" vs. merely topically adjacent?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88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 research librarian (information science):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metadata reliably distinguishes on-topic from off-topic papers?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88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 COGS 160 student (target user):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feedback helps me understand WHY a paper was rejected?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filter takes a K-ATLAS question and a paper (title + abstract).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must produce: ACCEPT, REJECT, or MANUAL REVIEW,
with step-by-step reasoning.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5A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panelist: state your top 3 requirements and one thing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5A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 would make the filter misleading or dangerous.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Spec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420624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88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PDFRelevanceFilter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88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+ paper_title + abstract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88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 + per-check reasoning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A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(7 sequential checks):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Document Type Acceptability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False Keyword Detection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Topic Overlap (Both Sides)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Evidence Type Match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Dependent Variable Alignment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6. Relevance Tier Classification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7. Final Reasoning Synthesis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463040"/>
            <a:ext cx="35661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463040"/>
            <a:ext cx="3566160" cy="54864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Spec Defines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2080" y="20116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topic: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Environment-side keywords
  Outcome-side keywords
  False-keyword exclusions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check: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What counts as PASS
  What counts as WARN
  What counts as FAIL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classification: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DIRECT = topic + DV + evidence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INDIRECT = topic but wrong DV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CONTEXTUAL = right DV, wrong env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IRRELEVANT = neither matches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Acceptance Tests — Before Any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solidFill>
            <a:srgbClr val="E6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SQ-001: "What empirical evidence supports the claim that natural environments restore directed attention better than urban environments?"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54864" cy="1280160"/>
          </a:xfrm>
          <a:prstGeom prst="rect">
            <a:avLst/>
          </a:prstGeom>
          <a:solidFill>
            <a:srgbClr val="1A7A5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Hit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"Attention restoration after cognitive fatigue in simulated nature"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checks pass — env + outcome keywords both match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011680"/>
            <a:ext cx="54864" cy="1280160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Off-Topic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"Structural analysis of reinforced concrete beams"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document type — computational simulation, not research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29000"/>
            <a:ext cx="54864" cy="1280160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Adjacent but Wrong DV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3502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"Shinrin-yoku and salivary cortisol responses"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keywords match, but cortisol ≠ attention. Same environment, wrong outcome.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29000"/>
            <a:ext cx="54864" cy="1280160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Keyword Match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0" y="3502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"ADHD in natural classroom settings"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"Attention deficit" triggers false-keyword exclusion — clinical ADHD, not ART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572000"/>
            <a:ext cx="8046720" cy="54864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3 is the case that matters. A naive filter accepts it. Ours doesn't.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4–5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and Verify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931920" cy="54864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receives the spec + acceptance tests + question bank JSON + topic keyword banks. Instruction: build a single-page HTML/JS app.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~600 lines of JS, 7-check pipeline, interactive demo.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~15 minutes. (The spec took 2 hours.)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3840480" cy="54864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 Verify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all 5 acceptance tests. 4 pass, 1 fails.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ARS validation paper was classified DIRECT, but it should be INDIRECT — it measures instrument validity, not the IV→DV effect.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8046720" cy="1554480"/>
          </a:xfrm>
          <a:prstGeom prst="rect">
            <a:avLst/>
          </a:prstGeom>
          <a:solidFill>
            <a:srgbClr val="152E2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246120"/>
            <a:ext cx="54864" cy="1554480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6–7: DIAGNOSE &amp; ITERATE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0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ARS paper mentions "attention restoration" and "environments" so the keyword filter says DIRECT. But it measures scale reliability, not the actual IV→DV effect. The fix is in the spec: add "validation," "reliability," "psychometric" as instrument-markers that downgrade to INDIRECT.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0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spec → AI regenerates the affected check → re-run all tests (not just the failure) → add new edge cases discovered during diagnosis.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the Designer. AI Is the Builder.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292608" cy="292608"/>
          </a:xfrm>
          <a:prstGeom prst="ellipse">
            <a:avLst/>
          </a:prstGeom>
          <a:solidFill>
            <a:srgbClr val="2A786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27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spec did the intellectual 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856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 checks, keyword banks, tier rules, false-keyword exclusions — all designed before a line of code. AI wrote the JS in minutes. The spec is where the epistemology lives.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96312"/>
            <a:ext cx="292608" cy="292608"/>
          </a:xfrm>
          <a:prstGeom prst="ellipse">
            <a:avLst/>
          </a:prstGeom>
          <a:solidFill>
            <a:srgbClr val="2A786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96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Failures go back to the spec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249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shinrin-yoku paper was misclassified, the fix was adding keywords — not editing JavaScript. You debug your design, not your code.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364992"/>
            <a:ext cx="292608" cy="292608"/>
          </a:xfrm>
          <a:prstGeom prst="ellipse">
            <a:avLst/>
          </a:prstGeom>
          <a:solidFill>
            <a:srgbClr val="2A786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64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bring the domain knowledge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93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know that cortisol ≠ attention, or that an ARS validation paper isn't measuring the IV→DV effect. Your expertise is what makes the filter work.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33672"/>
            <a:ext cx="292608" cy="292608"/>
          </a:xfrm>
          <a:prstGeom prst="ellipse">
            <a:avLst/>
          </a:prstGeom>
          <a:solidFill>
            <a:srgbClr val="2A786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33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method scales to your track work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4622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exercise in this course uses the same 7 steps. The filter was just the demo. Your track project is where you apply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72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System Architecture &amp; The 7-Step Method</dc:title>
  <dc:subject>PptxGenJS Presentation</dc:subject>
  <dc:creator>Prof. David Kirsh</dc:creator>
  <cp:lastModifiedBy>Prof. David Kirsh</cp:lastModifiedBy>
  <cp:revision>1</cp:revision>
  <dcterms:created xsi:type="dcterms:W3CDTF">2026-04-07T07:20:44Z</dcterms:created>
  <dcterms:modified xsi:type="dcterms:W3CDTF">2026-04-07T07:20:44Z</dcterms:modified>
</cp:coreProperties>
</file>